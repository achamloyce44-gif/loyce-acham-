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8" r:id="rId12"/>
    <p:sldId id="265"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5" d="100"/>
          <a:sy n="75" d="100"/>
        </p:scale>
        <p:origin x="-99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121293559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742248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498238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EF72E9-718A-4AAC-BE4E-48E51360B7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2389329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EF72E9-718A-4AAC-BE4E-48E51360B703}"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177731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EF72E9-718A-4AAC-BE4E-48E51360B703}"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600780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F5EF72E9-718A-4AAC-BE4E-48E51360B703}"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2841601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EF72E9-718A-4AAC-BE4E-48E51360B7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3430900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EF72E9-718A-4AAC-BE4E-48E51360B7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3308908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EF72E9-718A-4AAC-BE4E-48E51360B7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4184748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2019710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32061659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39853253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734404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240279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1671629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EF72E9-718A-4AAC-BE4E-48E51360B7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4EEAD-301E-4E1D-AAB7-BF9410AB6E2A}" type="slidenum">
              <a:rPr lang="en-US" smtClean="0"/>
              <a:t>‹#›</a:t>
            </a:fld>
            <a:endParaRPr lang="en-US"/>
          </a:p>
        </p:txBody>
      </p:sp>
    </p:spTree>
    <p:extLst>
      <p:ext uri="{BB962C8B-B14F-4D97-AF65-F5344CB8AC3E}">
        <p14:creationId xmlns:p14="http://schemas.microsoft.com/office/powerpoint/2010/main" val="855977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23000">
              <a:schemeClr val="accent2">
                <a:lumMod val="95000"/>
                <a:lumOff val="5000"/>
              </a:schemeClr>
            </a:gs>
            <a:gs pos="75843">
              <a:schemeClr val="accent2">
                <a:lumMod val="60000"/>
              </a:schemeClr>
            </a:gs>
            <a:gs pos="58000">
              <a:schemeClr val="accent2">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5EF72E9-718A-4AAC-BE4E-48E51360B703}" type="datetimeFigureOut">
              <a:rPr lang="en-US" smtClean="0"/>
              <a:t>10/21/2025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E04EEAD-301E-4E1D-AAB7-BF9410AB6E2A}" type="slidenum">
              <a:rPr lang="en-US" smtClean="0"/>
              <a:t>‹#›</a:t>
            </a:fld>
            <a:endParaRPr lang="en-US"/>
          </a:p>
        </p:txBody>
      </p:sp>
    </p:spTree>
    <p:extLst>
      <p:ext uri="{BB962C8B-B14F-4D97-AF65-F5344CB8AC3E}">
        <p14:creationId xmlns:p14="http://schemas.microsoft.com/office/powerpoint/2010/main" val="5814066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C94F-A633-47BC-967C-E99231478D39}"/>
              </a:ext>
            </a:extLst>
          </p:cNvPr>
          <p:cNvSpPr>
            <a:spLocks noGrp="1"/>
          </p:cNvSpPr>
          <p:nvPr>
            <p:ph type="ctrTitle"/>
          </p:nvPr>
        </p:nvSpPr>
        <p:spPr>
          <a:xfrm>
            <a:off x="3962399" y="1066801"/>
            <a:ext cx="7965898" cy="3318930"/>
          </a:xfrm>
        </p:spPr>
        <p:txBody>
          <a:bodyPr>
            <a:normAutofit/>
          </a:bodyPr>
          <a:lstStyle/>
          <a:p>
            <a:r>
              <a:rPr lang="en-US" dirty="0"/>
              <a:t>Numerical methods &amp; algorithm optimization:</a:t>
            </a:r>
            <a:br>
              <a:rPr lang="en-US" dirty="0"/>
            </a:br>
            <a:r>
              <a:rPr lang="en-US" sz="4000" b="1" dirty="0"/>
              <a:t>Recursive vs dynamic  programming</a:t>
            </a:r>
          </a:p>
        </p:txBody>
      </p:sp>
      <p:sp>
        <p:nvSpPr>
          <p:cNvPr id="3" name="Subtitle 2">
            <a:extLst>
              <a:ext uri="{FF2B5EF4-FFF2-40B4-BE49-F238E27FC236}">
                <a16:creationId xmlns:a16="http://schemas.microsoft.com/office/drawing/2014/main" id="{5633629E-96FA-41CE-9C81-F73AE24F1474}"/>
              </a:ext>
            </a:extLst>
          </p:cNvPr>
          <p:cNvSpPr>
            <a:spLocks noGrp="1"/>
          </p:cNvSpPr>
          <p:nvPr>
            <p:ph type="subTitle" idx="1"/>
          </p:nvPr>
        </p:nvSpPr>
        <p:spPr>
          <a:xfrm>
            <a:off x="4229818" y="4308095"/>
            <a:ext cx="7197726" cy="1405467"/>
          </a:xfrm>
        </p:spPr>
        <p:txBody>
          <a:bodyPr/>
          <a:lstStyle/>
          <a:p>
            <a:r>
              <a:rPr lang="en-US" dirty="0"/>
              <a:t>Addressing assignment questions 1 and 2</a:t>
            </a:r>
          </a:p>
          <a:p>
            <a:r>
              <a:rPr lang="en-US" dirty="0"/>
              <a:t>Group 13</a:t>
            </a:r>
          </a:p>
        </p:txBody>
      </p:sp>
    </p:spTree>
    <p:extLst>
      <p:ext uri="{BB962C8B-B14F-4D97-AF65-F5344CB8AC3E}">
        <p14:creationId xmlns:p14="http://schemas.microsoft.com/office/powerpoint/2010/main" val="746163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AC4E3-1188-4840-BBCD-515E2072A683}"/>
              </a:ext>
            </a:extLst>
          </p:cNvPr>
          <p:cNvSpPr>
            <a:spLocks noGrp="1"/>
          </p:cNvSpPr>
          <p:nvPr>
            <p:ph type="title"/>
          </p:nvPr>
        </p:nvSpPr>
        <p:spPr/>
        <p:txBody>
          <a:bodyPr/>
          <a:lstStyle/>
          <a:p>
            <a:r>
              <a:rPr lang="en-US" dirty="0"/>
              <a:t>Presentation road map</a:t>
            </a:r>
          </a:p>
        </p:txBody>
      </p:sp>
      <p:sp>
        <p:nvSpPr>
          <p:cNvPr id="3" name="Content Placeholder 2">
            <a:extLst>
              <a:ext uri="{FF2B5EF4-FFF2-40B4-BE49-F238E27FC236}">
                <a16:creationId xmlns:a16="http://schemas.microsoft.com/office/drawing/2014/main" id="{A5156191-CE02-4A3D-900D-B531974EBAC2}"/>
              </a:ext>
            </a:extLst>
          </p:cNvPr>
          <p:cNvSpPr>
            <a:spLocks noGrp="1"/>
          </p:cNvSpPr>
          <p:nvPr>
            <p:ph idx="1"/>
          </p:nvPr>
        </p:nvSpPr>
        <p:spPr/>
        <p:txBody>
          <a:bodyPr>
            <a:normAutofit/>
          </a:bodyPr>
          <a:lstStyle/>
          <a:p>
            <a:pPr marL="0" indent="0">
              <a:buNone/>
            </a:pPr>
            <a:r>
              <a:rPr lang="en-US" sz="2800" dirty="0"/>
              <a:t>Qn.1 Recursive implementation of a Numerical Method </a:t>
            </a:r>
          </a:p>
          <a:p>
            <a:pPr marL="0" indent="0">
              <a:buNone/>
            </a:pPr>
            <a:r>
              <a:rPr lang="en-US" sz="2800" dirty="0"/>
              <a:t>Qn.2a: The Fibonacci Sequence</a:t>
            </a:r>
          </a:p>
          <a:p>
            <a:pPr marL="0" indent="0">
              <a:buNone/>
            </a:pPr>
            <a:r>
              <a:rPr lang="en-US" sz="2800" dirty="0"/>
              <a:t>Qn.2b:The knapsack problem</a:t>
            </a:r>
          </a:p>
          <a:p>
            <a:pPr marL="0" indent="0">
              <a:buNone/>
            </a:pPr>
            <a:r>
              <a:rPr lang="en-US" sz="2800" dirty="0"/>
              <a:t>Comparison : graphs</a:t>
            </a:r>
          </a:p>
          <a:p>
            <a:pPr marL="0" indent="0">
              <a:buNone/>
            </a:pPr>
            <a:r>
              <a:rPr lang="en-US" sz="2800" dirty="0"/>
              <a:t>Conclusion </a:t>
            </a:r>
          </a:p>
        </p:txBody>
      </p:sp>
    </p:spTree>
    <p:extLst>
      <p:ext uri="{BB962C8B-B14F-4D97-AF65-F5344CB8AC3E}">
        <p14:creationId xmlns:p14="http://schemas.microsoft.com/office/powerpoint/2010/main" val="2513898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64EC-FDAA-4AA3-8ED3-D97A145361C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0450E74-5EF0-4419-A8C0-8DB091AC9294}"/>
              </a:ext>
            </a:extLst>
          </p:cNvPr>
          <p:cNvSpPr>
            <a:spLocks noGrp="1"/>
          </p:cNvSpPr>
          <p:nvPr>
            <p:ph idx="1"/>
          </p:nvPr>
        </p:nvSpPr>
        <p:spPr>
          <a:xfrm>
            <a:off x="254481" y="2337759"/>
            <a:ext cx="10131425" cy="4169434"/>
          </a:xfrm>
        </p:spPr>
        <p:txBody>
          <a:bodyPr>
            <a:noAutofit/>
          </a:bodyPr>
          <a:lstStyle/>
          <a:p>
            <a:r>
              <a:rPr lang="en-US" sz="2800" dirty="0"/>
              <a:t>Recursive programming calls a function within itself to solve subproblems</a:t>
            </a:r>
          </a:p>
          <a:p>
            <a:r>
              <a:rPr lang="en-US" sz="2800" dirty="0"/>
              <a:t>Dynamic programming (DP) optimizes recursion by storing previously computed results.</a:t>
            </a:r>
          </a:p>
          <a:p>
            <a:r>
              <a:rPr lang="en-US" sz="2800" dirty="0"/>
              <a:t>Both are powerful for mathematical and </a:t>
            </a:r>
            <a:r>
              <a:rPr lang="en-US" sz="2800" dirty="0" err="1"/>
              <a:t>alogarithmic</a:t>
            </a:r>
            <a:r>
              <a:rPr lang="en-US" sz="2800" dirty="0"/>
              <a:t> computations.</a:t>
            </a:r>
          </a:p>
          <a:p>
            <a:pPr marL="0" indent="0">
              <a:buNone/>
            </a:pPr>
            <a:r>
              <a:rPr lang="en-US" sz="2800" dirty="0"/>
              <a:t>Example;</a:t>
            </a:r>
          </a:p>
          <a:p>
            <a:pPr marL="0" indent="0">
              <a:buNone/>
            </a:pPr>
            <a:r>
              <a:rPr lang="en-US" sz="2800" dirty="0"/>
              <a:t>Recursion is useful in root-finding, </a:t>
            </a:r>
            <a:r>
              <a:rPr lang="en-US" sz="2800" dirty="0" err="1"/>
              <a:t>intergration,and</a:t>
            </a:r>
            <a:r>
              <a:rPr lang="en-US" sz="2800" dirty="0"/>
              <a:t> differential </a:t>
            </a:r>
            <a:r>
              <a:rPr lang="en-US" sz="2800" dirty="0" err="1"/>
              <a:t>equatioins</a:t>
            </a:r>
            <a:r>
              <a:rPr lang="en-US" sz="2800" dirty="0"/>
              <a:t>(</a:t>
            </a:r>
            <a:r>
              <a:rPr lang="en-US" sz="2800" dirty="0" err="1"/>
              <a:t>e.g</a:t>
            </a:r>
            <a:r>
              <a:rPr lang="en-US" sz="2800" dirty="0"/>
              <a:t> Euler or Runge –</a:t>
            </a:r>
            <a:r>
              <a:rPr lang="en-US" sz="2800" dirty="0" err="1"/>
              <a:t>Kutta</a:t>
            </a:r>
            <a:r>
              <a:rPr lang="en-US" sz="2800" dirty="0"/>
              <a:t>).</a:t>
            </a:r>
          </a:p>
        </p:txBody>
      </p:sp>
    </p:spTree>
    <p:extLst>
      <p:ext uri="{BB962C8B-B14F-4D97-AF65-F5344CB8AC3E}">
        <p14:creationId xmlns:p14="http://schemas.microsoft.com/office/powerpoint/2010/main" val="1880910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2F86F-86DD-49BE-B6C2-7B06C0F3384B}"/>
              </a:ext>
            </a:extLst>
          </p:cNvPr>
          <p:cNvSpPr>
            <a:spLocks noGrp="1"/>
          </p:cNvSpPr>
          <p:nvPr>
            <p:ph type="title"/>
          </p:nvPr>
        </p:nvSpPr>
        <p:spPr>
          <a:xfrm>
            <a:off x="616790" y="264544"/>
            <a:ext cx="10131425" cy="805132"/>
          </a:xfrm>
        </p:spPr>
        <p:txBody>
          <a:bodyPr/>
          <a:lstStyle/>
          <a:p>
            <a:r>
              <a:rPr lang="en-US" dirty="0"/>
              <a:t>Question 1 – recursive numerical methods		</a:t>
            </a:r>
          </a:p>
        </p:txBody>
      </p:sp>
      <p:sp>
        <p:nvSpPr>
          <p:cNvPr id="3" name="Content Placeholder 2">
            <a:extLst>
              <a:ext uri="{FF2B5EF4-FFF2-40B4-BE49-F238E27FC236}">
                <a16:creationId xmlns:a16="http://schemas.microsoft.com/office/drawing/2014/main" id="{EBD090C0-13DD-4910-92DC-EA476D309524}"/>
              </a:ext>
            </a:extLst>
          </p:cNvPr>
          <p:cNvSpPr>
            <a:spLocks noGrp="1"/>
          </p:cNvSpPr>
          <p:nvPr>
            <p:ph idx="1"/>
          </p:nvPr>
        </p:nvSpPr>
        <p:spPr>
          <a:xfrm>
            <a:off x="685801" y="836763"/>
            <a:ext cx="10131425" cy="5900468"/>
          </a:xfrm>
        </p:spPr>
        <p:txBody>
          <a:bodyPr>
            <a:normAutofit fontScale="92500" lnSpcReduction="20000"/>
          </a:bodyPr>
          <a:lstStyle/>
          <a:p>
            <a:pPr marL="0" indent="0">
              <a:buNone/>
            </a:pPr>
            <a:endParaRPr lang="en-US" sz="2600" dirty="0"/>
          </a:p>
          <a:p>
            <a:pPr marL="0" indent="0">
              <a:buNone/>
            </a:pPr>
            <a:r>
              <a:rPr lang="en-US" sz="2600" dirty="0"/>
              <a:t>Example : Recursive NRM, Euler’s and Secant Methods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2600" dirty="0"/>
          </a:p>
          <a:p>
            <a:pPr marL="0" indent="0">
              <a:buNone/>
            </a:pPr>
            <a:endParaRPr lang="en-US" sz="2600" dirty="0"/>
          </a:p>
          <a:p>
            <a:pPr marL="0" indent="0">
              <a:buNone/>
            </a:pPr>
            <a:r>
              <a:rPr lang="en-US" sz="2600" dirty="0"/>
              <a:t>Each recursive call computes the next step until the final x-value is reached.</a:t>
            </a:r>
          </a:p>
          <a:p>
            <a:pPr marL="0" indent="0">
              <a:buNone/>
            </a:pPr>
            <a:endParaRPr lang="en-US" dirty="0"/>
          </a:p>
        </p:txBody>
      </p:sp>
      <p:pic>
        <p:nvPicPr>
          <p:cNvPr id="5" name="Picture 4">
            <a:extLst>
              <a:ext uri="{FF2B5EF4-FFF2-40B4-BE49-F238E27FC236}">
                <a16:creationId xmlns:a16="http://schemas.microsoft.com/office/drawing/2014/main" id="{DBC21B58-145E-42EE-BBD7-03C1308D6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026" y="1641895"/>
            <a:ext cx="3284998" cy="4098984"/>
          </a:xfrm>
          <a:prstGeom prst="rect">
            <a:avLst/>
          </a:prstGeom>
        </p:spPr>
      </p:pic>
      <p:pic>
        <p:nvPicPr>
          <p:cNvPr id="7" name="Picture 6">
            <a:extLst>
              <a:ext uri="{FF2B5EF4-FFF2-40B4-BE49-F238E27FC236}">
                <a16:creationId xmlns:a16="http://schemas.microsoft.com/office/drawing/2014/main" id="{997DCC14-6319-40C6-9F82-D72126E74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4625" y="1619699"/>
            <a:ext cx="3284999" cy="4121180"/>
          </a:xfrm>
          <a:prstGeom prst="rect">
            <a:avLst/>
          </a:prstGeom>
        </p:spPr>
      </p:pic>
    </p:spTree>
    <p:extLst>
      <p:ext uri="{BB962C8B-B14F-4D97-AF65-F5344CB8AC3E}">
        <p14:creationId xmlns:p14="http://schemas.microsoft.com/office/powerpoint/2010/main" val="98745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C2F17-2E7F-4780-872F-737EF6245EA7}"/>
              </a:ext>
            </a:extLst>
          </p:cNvPr>
          <p:cNvSpPr>
            <a:spLocks noGrp="1"/>
          </p:cNvSpPr>
          <p:nvPr>
            <p:ph type="title"/>
          </p:nvPr>
        </p:nvSpPr>
        <p:spPr/>
        <p:txBody>
          <a:bodyPr/>
          <a:lstStyle/>
          <a:p>
            <a:r>
              <a:rPr lang="en-US" dirty="0"/>
              <a:t>Question 2-recursive vs dynamic programming.</a:t>
            </a:r>
          </a:p>
        </p:txBody>
      </p:sp>
      <p:sp>
        <p:nvSpPr>
          <p:cNvPr id="3" name="Content Placeholder 2">
            <a:extLst>
              <a:ext uri="{FF2B5EF4-FFF2-40B4-BE49-F238E27FC236}">
                <a16:creationId xmlns:a16="http://schemas.microsoft.com/office/drawing/2014/main" id="{7874557E-98AA-46A4-B5A5-2C3D7CB6BE7E}"/>
              </a:ext>
            </a:extLst>
          </p:cNvPr>
          <p:cNvSpPr>
            <a:spLocks noGrp="1"/>
          </p:cNvSpPr>
          <p:nvPr>
            <p:ph idx="1"/>
          </p:nvPr>
        </p:nvSpPr>
        <p:spPr/>
        <p:txBody>
          <a:bodyPr>
            <a:normAutofit/>
          </a:bodyPr>
          <a:lstStyle/>
          <a:p>
            <a:r>
              <a:rPr lang="en-US" sz="3600" dirty="0"/>
              <a:t>We apply both approaches to:</a:t>
            </a:r>
          </a:p>
          <a:p>
            <a:pPr marL="0" indent="0">
              <a:buNone/>
            </a:pPr>
            <a:r>
              <a:rPr lang="en-US" sz="3600" dirty="0"/>
              <a:t> 1. The Fibonacci problem</a:t>
            </a:r>
          </a:p>
          <a:p>
            <a:pPr marL="0" indent="0">
              <a:buNone/>
            </a:pPr>
            <a:r>
              <a:rPr lang="en-US" sz="3600" dirty="0"/>
              <a:t>2. The Knapsack problem</a:t>
            </a:r>
          </a:p>
        </p:txBody>
      </p:sp>
    </p:spTree>
    <p:extLst>
      <p:ext uri="{BB962C8B-B14F-4D97-AF65-F5344CB8AC3E}">
        <p14:creationId xmlns:p14="http://schemas.microsoft.com/office/powerpoint/2010/main" val="3722602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93A43-4591-40D2-8608-9509AACFA9BC}"/>
              </a:ext>
            </a:extLst>
          </p:cNvPr>
          <p:cNvSpPr>
            <a:spLocks noGrp="1"/>
          </p:cNvSpPr>
          <p:nvPr>
            <p:ph type="title"/>
          </p:nvPr>
        </p:nvSpPr>
        <p:spPr>
          <a:xfrm>
            <a:off x="608163" y="230039"/>
            <a:ext cx="10131425" cy="563592"/>
          </a:xfrm>
        </p:spPr>
        <p:txBody>
          <a:bodyPr>
            <a:normAutofit fontScale="90000"/>
          </a:bodyPr>
          <a:lstStyle/>
          <a:p>
            <a:r>
              <a:rPr lang="en-US" dirty="0"/>
              <a:t>Fibonacci problem</a:t>
            </a:r>
          </a:p>
        </p:txBody>
      </p:sp>
      <p:sp>
        <p:nvSpPr>
          <p:cNvPr id="3" name="Content Placeholder 2">
            <a:extLst>
              <a:ext uri="{FF2B5EF4-FFF2-40B4-BE49-F238E27FC236}">
                <a16:creationId xmlns:a16="http://schemas.microsoft.com/office/drawing/2014/main" id="{EC85E93B-E9FA-45D8-ADD4-355DB6DEE546}"/>
              </a:ext>
            </a:extLst>
          </p:cNvPr>
          <p:cNvSpPr>
            <a:spLocks noGrp="1"/>
          </p:cNvSpPr>
          <p:nvPr>
            <p:ph idx="1"/>
          </p:nvPr>
        </p:nvSpPr>
        <p:spPr>
          <a:xfrm>
            <a:off x="685801" y="2605177"/>
            <a:ext cx="10131425" cy="4166560"/>
          </a:xfrm>
        </p:spPr>
        <p:txBody>
          <a:bodyPr>
            <a:normAutofit fontScale="92500" lnSpcReduction="20000"/>
          </a:bodyPr>
          <a:lstStyle/>
          <a:p>
            <a:r>
              <a:rPr lang="en-US" dirty="0"/>
              <a:t>Recursive version:</a:t>
            </a:r>
          </a:p>
          <a:p>
            <a:pPr marL="0" indent="0">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 wrote the Fibonacci function in recursive programming as follows with base cases as n=0 or n=1</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Dynamic programming version:</a:t>
            </a:r>
          </a:p>
          <a:p>
            <a:pPr marL="0" indent="0">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 wrote a function that builds a Fibonacci sequence in an array and returns F(n), runs in linear time 0(n) and uses 0(n) memory.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8" name="Picture 7">
            <a:extLst>
              <a:ext uri="{FF2B5EF4-FFF2-40B4-BE49-F238E27FC236}">
                <a16:creationId xmlns:a16="http://schemas.microsoft.com/office/drawing/2014/main" id="{D1F61D29-8323-43E6-912F-BC643E7B86FD}"/>
              </a:ext>
            </a:extLst>
          </p:cNvPr>
          <p:cNvPicPr/>
          <p:nvPr/>
        </p:nvPicPr>
        <p:blipFill>
          <a:blip r:embed="rId2"/>
          <a:stretch>
            <a:fillRect/>
          </a:stretch>
        </p:blipFill>
        <p:spPr>
          <a:xfrm>
            <a:off x="1668996" y="2566358"/>
            <a:ext cx="4343616" cy="1725283"/>
          </a:xfrm>
          <a:prstGeom prst="rect">
            <a:avLst/>
          </a:prstGeom>
        </p:spPr>
      </p:pic>
      <p:pic>
        <p:nvPicPr>
          <p:cNvPr id="9" name="Picture 8">
            <a:extLst>
              <a:ext uri="{FF2B5EF4-FFF2-40B4-BE49-F238E27FC236}">
                <a16:creationId xmlns:a16="http://schemas.microsoft.com/office/drawing/2014/main" id="{2E3B69D2-2F22-4FFD-86FC-7126FD7F6545}"/>
              </a:ext>
            </a:extLst>
          </p:cNvPr>
          <p:cNvPicPr/>
          <p:nvPr/>
        </p:nvPicPr>
        <p:blipFill>
          <a:blip r:embed="rId3"/>
          <a:stretch>
            <a:fillRect/>
          </a:stretch>
        </p:blipFill>
        <p:spPr>
          <a:xfrm>
            <a:off x="3096883" y="5270740"/>
            <a:ext cx="3531868" cy="1587260"/>
          </a:xfrm>
          <a:prstGeom prst="rect">
            <a:avLst/>
          </a:prstGeom>
        </p:spPr>
      </p:pic>
    </p:spTree>
    <p:extLst>
      <p:ext uri="{BB962C8B-B14F-4D97-AF65-F5344CB8AC3E}">
        <p14:creationId xmlns:p14="http://schemas.microsoft.com/office/powerpoint/2010/main" val="2218918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9E76E-DB16-4B2D-B28F-9FDD5976D416}"/>
              </a:ext>
            </a:extLst>
          </p:cNvPr>
          <p:cNvSpPr>
            <a:spLocks noGrp="1"/>
          </p:cNvSpPr>
          <p:nvPr>
            <p:ph type="title"/>
          </p:nvPr>
        </p:nvSpPr>
        <p:spPr>
          <a:xfrm>
            <a:off x="685801" y="1078302"/>
            <a:ext cx="10131425" cy="5719314"/>
          </a:xfrm>
        </p:spPr>
        <p:txBody>
          <a:bodyPr>
            <a:normAutofit fontScale="90000"/>
          </a:bodyPr>
          <a:lstStyle/>
          <a:p>
            <a:r>
              <a:rPr lang="en-US" dirty="0"/>
              <a:t>Knapsack problem</a:t>
            </a:r>
            <a:br>
              <a:rPr lang="en-US" dirty="0"/>
            </a:br>
            <a:r>
              <a:rPr lang="en-US" dirty="0"/>
              <a:t>   </a:t>
            </a:r>
            <a:r>
              <a:rPr lang="en-US" cap="none" dirty="0"/>
              <a:t>Recursive Version</a:t>
            </a:r>
            <a:r>
              <a:rPr lang="en-US" dirty="0"/>
              <a:t>:</a:t>
            </a:r>
            <a:br>
              <a:rPr lang="en-US" sz="1800" cap="none" dirty="0"/>
            </a:b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we wrote codes basing on the above parameters compute the maximum value with capacity w, item weights </a:t>
            </a:r>
            <a:r>
              <a:rPr lang="en-US" sz="1800" kern="100" cap="none" dirty="0" err="1">
                <a:effectLst/>
                <a:latin typeface="Times New Roman" panose="02020603050405020304" pitchFamily="18" charset="0"/>
                <a:ea typeface="Calibri" panose="020F0502020204030204" pitchFamily="34" charset="0"/>
                <a:cs typeface="Times New Roman" panose="02020603050405020304" pitchFamily="18" charset="0"/>
              </a:rPr>
              <a:t>wt</a:t>
            </a: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 item values v, considering first n terms as follows</a:t>
            </a:r>
            <a:br>
              <a:rPr lang="en-US" dirty="0"/>
            </a:br>
            <a:br>
              <a:rPr lang="en-US" dirty="0"/>
            </a:br>
            <a:br>
              <a:rPr lang="en-US" dirty="0"/>
            </a:br>
            <a:br>
              <a:rPr lang="en-US" dirty="0"/>
            </a:br>
            <a:br>
              <a:rPr lang="en-US" dirty="0"/>
            </a:br>
            <a:br>
              <a:rPr lang="en-US" dirty="0"/>
            </a:br>
            <a:r>
              <a:rPr lang="en-US" dirty="0"/>
              <a:t>  </a:t>
            </a:r>
            <a:r>
              <a:rPr lang="en-US" cap="none" dirty="0"/>
              <a:t>Dynamic Programming Version</a:t>
            </a:r>
            <a:r>
              <a:rPr lang="en-US" dirty="0"/>
              <a:t>:</a:t>
            </a:r>
            <a:br>
              <a:rPr lang="en-US" dirty="0"/>
            </a:br>
            <a:r>
              <a:rPr lang="en-US" sz="2000" kern="100" cap="none" dirty="0">
                <a:effectLst/>
                <a:latin typeface="Times New Roman" panose="02020603050405020304" pitchFamily="18" charset="0"/>
                <a:ea typeface="Calibri" panose="020F0502020204030204" pitchFamily="34" charset="0"/>
                <a:cs typeface="Times New Roman" panose="02020603050405020304" pitchFamily="18" charset="0"/>
              </a:rPr>
              <a:t>for the above problem in dynamic programming, we wrote the code below to compute the maximum value for capacity. we used loops, if condition and return function to simulate the code as below</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br>
              <a:rPr lang="en-US" dirty="0"/>
            </a:br>
            <a:br>
              <a:rPr lang="en-US" dirty="0"/>
            </a:br>
            <a:br>
              <a:rPr lang="en-US" dirty="0"/>
            </a:br>
            <a:br>
              <a:rPr lang="en-US" dirty="0"/>
            </a:br>
            <a:br>
              <a:rPr lang="en-US" dirty="0"/>
            </a:br>
            <a:endParaRPr lang="en-US" dirty="0"/>
          </a:p>
        </p:txBody>
      </p:sp>
      <p:pic>
        <p:nvPicPr>
          <p:cNvPr id="4" name="Picture 3">
            <a:extLst>
              <a:ext uri="{FF2B5EF4-FFF2-40B4-BE49-F238E27FC236}">
                <a16:creationId xmlns:a16="http://schemas.microsoft.com/office/drawing/2014/main" id="{BF13D8B1-9F74-4D37-BA6C-24AA4AE81E8F}"/>
              </a:ext>
            </a:extLst>
          </p:cNvPr>
          <p:cNvPicPr/>
          <p:nvPr/>
        </p:nvPicPr>
        <p:blipFill>
          <a:blip r:embed="rId2">
            <a:extLst>
              <a:ext uri="{28A0092B-C50C-407E-A947-70E740481C1C}">
                <a14:useLocalDpi xmlns:a14="http://schemas.microsoft.com/office/drawing/2010/main" val="0"/>
              </a:ext>
            </a:extLst>
          </a:blip>
          <a:stretch>
            <a:fillRect/>
          </a:stretch>
        </p:blipFill>
        <p:spPr>
          <a:xfrm>
            <a:off x="1903707" y="1741708"/>
            <a:ext cx="5356860" cy="1773555"/>
          </a:xfrm>
          <a:prstGeom prst="rect">
            <a:avLst/>
          </a:prstGeom>
        </p:spPr>
      </p:pic>
      <p:pic>
        <p:nvPicPr>
          <p:cNvPr id="5" name="Picture 4">
            <a:extLst>
              <a:ext uri="{FF2B5EF4-FFF2-40B4-BE49-F238E27FC236}">
                <a16:creationId xmlns:a16="http://schemas.microsoft.com/office/drawing/2014/main" id="{FC732C5A-C596-4CE0-BDA7-3E54D6F58A63}"/>
              </a:ext>
            </a:extLst>
          </p:cNvPr>
          <p:cNvPicPr/>
          <p:nvPr/>
        </p:nvPicPr>
        <p:blipFill>
          <a:blip r:embed="rId3"/>
          <a:stretch>
            <a:fillRect/>
          </a:stretch>
        </p:blipFill>
        <p:spPr>
          <a:xfrm>
            <a:off x="2337758" y="4969756"/>
            <a:ext cx="4203653" cy="1888244"/>
          </a:xfrm>
          <a:prstGeom prst="rect">
            <a:avLst/>
          </a:prstGeom>
        </p:spPr>
      </p:pic>
    </p:spTree>
    <p:extLst>
      <p:ext uri="{BB962C8B-B14F-4D97-AF65-F5344CB8AC3E}">
        <p14:creationId xmlns:p14="http://schemas.microsoft.com/office/powerpoint/2010/main" val="354101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E3ACCB-A0BD-4A1C-8266-9160C54867C2}"/>
              </a:ext>
            </a:extLst>
          </p:cNvPr>
          <p:cNvSpPr>
            <a:spLocks noGrp="1"/>
          </p:cNvSpPr>
          <p:nvPr>
            <p:ph type="title"/>
          </p:nvPr>
        </p:nvSpPr>
        <p:spPr/>
        <p:txBody>
          <a:bodyPr/>
          <a:lstStyle/>
          <a:p>
            <a:r>
              <a:rPr lang="en-US" sz="3600" b="1" kern="100" dirty="0">
                <a:effectLst/>
                <a:latin typeface="Times New Roman" panose="02020603050405020304" pitchFamily="18" charset="0"/>
                <a:ea typeface="Calibri" panose="020F0502020204030204" pitchFamily="34" charset="0"/>
                <a:cs typeface="Times New Roman" panose="02020603050405020304" pitchFamily="18" charset="0"/>
              </a:rPr>
              <a:t>testing and timing setup</a:t>
            </a:r>
            <a:br>
              <a:rPr lang="en-US" sz="36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4" name="Content Placeholder 3">
            <a:extLst>
              <a:ext uri="{FF2B5EF4-FFF2-40B4-BE49-F238E27FC236}">
                <a16:creationId xmlns:a16="http://schemas.microsoft.com/office/drawing/2014/main" id="{509D76DD-CFA5-4A85-817F-574A9E4B8A37}"/>
              </a:ext>
            </a:extLst>
          </p:cNvPr>
          <p:cNvSpPr>
            <a:spLocks noGrp="1"/>
          </p:cNvSpPr>
          <p:nvPr>
            <p:ph idx="1"/>
          </p:nvPr>
        </p:nvSpPr>
        <p:spPr>
          <a:xfrm>
            <a:off x="401129" y="986127"/>
            <a:ext cx="10131425" cy="3649133"/>
          </a:xfrm>
        </p:spPr>
        <p:txBody>
          <a:bodyPr>
            <a:normAutofit/>
          </a:bodyPr>
          <a:lstStyle/>
          <a:p>
            <a:pPr marL="0" marR="0" indent="0">
              <a:lnSpc>
                <a:spcPct val="115000"/>
              </a:lnSpc>
              <a:spcBef>
                <a:spcPts val="0"/>
              </a:spcBef>
              <a:spcAft>
                <a:spcPts val="800"/>
              </a:spcAft>
              <a:buNone/>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We allocated n values from 10-30, pre allocated arrays to store execution times for each method problem.</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600" dirty="0"/>
          </a:p>
        </p:txBody>
      </p:sp>
      <p:pic>
        <p:nvPicPr>
          <p:cNvPr id="5" name="Picture 4">
            <a:extLst>
              <a:ext uri="{FF2B5EF4-FFF2-40B4-BE49-F238E27FC236}">
                <a16:creationId xmlns:a16="http://schemas.microsoft.com/office/drawing/2014/main" id="{E606074B-D7B6-4301-BC4D-8878946A9144}"/>
              </a:ext>
            </a:extLst>
          </p:cNvPr>
          <p:cNvPicPr/>
          <p:nvPr/>
        </p:nvPicPr>
        <p:blipFill>
          <a:blip r:embed="rId2"/>
          <a:stretch>
            <a:fillRect/>
          </a:stretch>
        </p:blipFill>
        <p:spPr>
          <a:xfrm>
            <a:off x="1293962" y="3326201"/>
            <a:ext cx="6185427" cy="2263715"/>
          </a:xfrm>
          <a:prstGeom prst="rect">
            <a:avLst/>
          </a:prstGeom>
        </p:spPr>
      </p:pic>
    </p:spTree>
    <p:extLst>
      <p:ext uri="{BB962C8B-B14F-4D97-AF65-F5344CB8AC3E}">
        <p14:creationId xmlns:p14="http://schemas.microsoft.com/office/powerpoint/2010/main" val="4269343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D6CC-4131-4376-8A7F-2183975D379B}"/>
              </a:ext>
            </a:extLst>
          </p:cNvPr>
          <p:cNvSpPr>
            <a:spLocks noGrp="1"/>
          </p:cNvSpPr>
          <p:nvPr>
            <p:ph type="title"/>
          </p:nvPr>
        </p:nvSpPr>
        <p:spPr>
          <a:xfrm>
            <a:off x="608163" y="336431"/>
            <a:ext cx="10131425" cy="1889184"/>
          </a:xfrm>
        </p:spPr>
        <p:txBody>
          <a:bodyPr>
            <a:normAutofit fontScale="90000"/>
          </a:bodyPr>
          <a:lstStyle/>
          <a:p>
            <a:r>
              <a:rPr lang="en-US" sz="6000" b="1" kern="100" dirty="0">
                <a:effectLst/>
                <a:latin typeface="Times New Roman" panose="02020603050405020304" pitchFamily="18" charset="0"/>
                <a:ea typeface="Calibri" panose="020F0502020204030204" pitchFamily="34" charset="0"/>
                <a:cs typeface="Times New Roman" panose="02020603050405020304" pitchFamily="18" charset="0"/>
              </a:rPr>
              <a:t>loops that run test and records times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dirty="0"/>
              <a:t> </a:t>
            </a:r>
          </a:p>
        </p:txBody>
      </p:sp>
      <p:pic>
        <p:nvPicPr>
          <p:cNvPr id="8" name="Content Placeholder 7">
            <a:extLst>
              <a:ext uri="{FF2B5EF4-FFF2-40B4-BE49-F238E27FC236}">
                <a16:creationId xmlns:a16="http://schemas.microsoft.com/office/drawing/2014/main" id="{C248B628-5D22-4DEE-8C88-BF49E72F8951}"/>
              </a:ext>
            </a:extLst>
          </p:cNvPr>
          <p:cNvPicPr>
            <a:picLocks noGrp="1"/>
          </p:cNvPicPr>
          <p:nvPr>
            <p:ph idx="1"/>
          </p:nvPr>
        </p:nvPicPr>
        <p:blipFill>
          <a:blip r:embed="rId2"/>
          <a:stretch>
            <a:fillRect/>
          </a:stretch>
        </p:blipFill>
        <p:spPr>
          <a:xfrm>
            <a:off x="1589267" y="3023560"/>
            <a:ext cx="8169215" cy="3217651"/>
          </a:xfrm>
          <a:prstGeom prst="rect">
            <a:avLst/>
          </a:prstGeom>
        </p:spPr>
      </p:pic>
    </p:spTree>
    <p:extLst>
      <p:ext uri="{BB962C8B-B14F-4D97-AF65-F5344CB8AC3E}">
        <p14:creationId xmlns:p14="http://schemas.microsoft.com/office/powerpoint/2010/main" val="3948556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3763D-E0EE-4F4B-9527-9784D7F0B0DE}"/>
              </a:ext>
            </a:extLst>
          </p:cNvPr>
          <p:cNvSpPr>
            <a:spLocks noGrp="1"/>
          </p:cNvSpPr>
          <p:nvPr>
            <p:ph type="title"/>
          </p:nvPr>
        </p:nvSpPr>
        <p:spPr>
          <a:xfrm>
            <a:off x="754813" y="511675"/>
            <a:ext cx="10131425" cy="1630392"/>
          </a:xfrm>
        </p:spPr>
        <p:txBody>
          <a:bodyPr>
            <a:normAutofit fontScale="90000"/>
          </a:bodyPr>
          <a:lstStyle/>
          <a:p>
            <a:r>
              <a:rPr lang="en-US" sz="4400" b="1" kern="100" dirty="0">
                <a:effectLst/>
                <a:latin typeface="Times New Roman" panose="02020603050405020304" pitchFamily="18" charset="0"/>
                <a:ea typeface="Calibri" panose="020F0502020204030204" pitchFamily="34" charset="0"/>
                <a:cs typeface="Times New Roman" panose="02020603050405020304" pitchFamily="18" charset="0"/>
              </a:rPr>
              <a:t>plotting both Knapsack and Fibonacci results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CB4B20FE-7C78-4F5A-BBDA-DCA5B9977C32}"/>
              </a:ext>
            </a:extLst>
          </p:cNvPr>
          <p:cNvPicPr>
            <a:picLocks noGrp="1"/>
          </p:cNvPicPr>
          <p:nvPr>
            <p:ph idx="1"/>
          </p:nvPr>
        </p:nvPicPr>
        <p:blipFill>
          <a:blip r:embed="rId2"/>
          <a:stretch>
            <a:fillRect/>
          </a:stretch>
        </p:blipFill>
        <p:spPr>
          <a:xfrm>
            <a:off x="685800" y="2142067"/>
            <a:ext cx="10131425" cy="2990650"/>
          </a:xfrm>
          <a:prstGeom prst="rect">
            <a:avLst/>
          </a:prstGeom>
        </p:spPr>
      </p:pic>
    </p:spTree>
    <p:extLst>
      <p:ext uri="{BB962C8B-B14F-4D97-AF65-F5344CB8AC3E}">
        <p14:creationId xmlns:p14="http://schemas.microsoft.com/office/powerpoint/2010/main" val="216195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8D40A-CC27-4AB4-9C3B-877660737338}"/>
              </a:ext>
            </a:extLst>
          </p:cNvPr>
          <p:cNvSpPr>
            <a:spLocks noGrp="1"/>
          </p:cNvSpPr>
          <p:nvPr>
            <p:ph type="title"/>
          </p:nvPr>
        </p:nvSpPr>
        <p:spPr/>
        <p:txBody>
          <a:bodyPr/>
          <a:lstStyle/>
          <a:p>
            <a:r>
              <a:rPr lang="en-US" dirty="0"/>
              <a:t>Comparison using graphs</a:t>
            </a:r>
          </a:p>
        </p:txBody>
      </p:sp>
      <p:pic>
        <p:nvPicPr>
          <p:cNvPr id="4" name="Content Placeholder 3">
            <a:extLst>
              <a:ext uri="{FF2B5EF4-FFF2-40B4-BE49-F238E27FC236}">
                <a16:creationId xmlns:a16="http://schemas.microsoft.com/office/drawing/2014/main" id="{EC000B6B-BEEE-4942-BCB0-9666CA7EDFDC}"/>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595223" y="2441275"/>
            <a:ext cx="4710022" cy="4028535"/>
          </a:xfrm>
          <a:prstGeom prst="rect">
            <a:avLst/>
          </a:prstGeom>
        </p:spPr>
      </p:pic>
      <p:pic>
        <p:nvPicPr>
          <p:cNvPr id="5" name="Picture 4">
            <a:extLst>
              <a:ext uri="{FF2B5EF4-FFF2-40B4-BE49-F238E27FC236}">
                <a16:creationId xmlns:a16="http://schemas.microsoft.com/office/drawing/2014/main" id="{8F2EB2D7-310E-4D29-9156-4FACC062A824}"/>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5581290" y="2484408"/>
            <a:ext cx="4433977" cy="4080294"/>
          </a:xfrm>
          <a:prstGeom prst="rect">
            <a:avLst/>
          </a:prstGeom>
        </p:spPr>
      </p:pic>
    </p:spTree>
    <p:extLst>
      <p:ext uri="{BB962C8B-B14F-4D97-AF65-F5344CB8AC3E}">
        <p14:creationId xmlns:p14="http://schemas.microsoft.com/office/powerpoint/2010/main" val="3819599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6AAC-5D53-40E2-9E3F-4FFC7F2950C6}"/>
              </a:ext>
            </a:extLst>
          </p:cNvPr>
          <p:cNvSpPr>
            <a:spLocks noGrp="1"/>
          </p:cNvSpPr>
          <p:nvPr>
            <p:ph type="title"/>
          </p:nvPr>
        </p:nvSpPr>
        <p:spPr/>
        <p:txBody>
          <a:bodyPr>
            <a:normAutofit/>
          </a:bodyPr>
          <a:lstStyle/>
          <a:p>
            <a:r>
              <a:rPr lang="en-US" sz="6000" dirty="0"/>
              <a:t>conclusion</a:t>
            </a:r>
          </a:p>
        </p:txBody>
      </p:sp>
      <p:sp>
        <p:nvSpPr>
          <p:cNvPr id="3" name="Content Placeholder 2">
            <a:extLst>
              <a:ext uri="{FF2B5EF4-FFF2-40B4-BE49-F238E27FC236}">
                <a16:creationId xmlns:a16="http://schemas.microsoft.com/office/drawing/2014/main" id="{69301FC6-43DE-47B5-8C37-46187D303BEF}"/>
              </a:ext>
            </a:extLst>
          </p:cNvPr>
          <p:cNvSpPr>
            <a:spLocks noGrp="1"/>
          </p:cNvSpPr>
          <p:nvPr>
            <p:ph idx="1"/>
          </p:nvPr>
        </p:nvSpPr>
        <p:spPr/>
        <p:txBody>
          <a:bodyPr/>
          <a:lstStyle/>
          <a:p>
            <a:pPr marL="0" indent="0">
              <a:buNone/>
            </a:pPr>
            <a: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t>Dynamic programming (DP) is far superior to naive recursion for problems with overlapping subproblems, like Fibonacci and Knapsack. Graphs show DP's time grows slowly, while naive recursion becomes too slow for larger inputs. The trade-off of using extra memory for massive speed gains is justified</a:t>
            </a:r>
            <a:endParaRPr lang="en-US" sz="3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522907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633FC-FC1F-4CD6-8EBF-EF7822AA78A5}"/>
              </a:ext>
            </a:extLst>
          </p:cNvPr>
          <p:cNvSpPr>
            <a:spLocks noGrp="1"/>
          </p:cNvSpPr>
          <p:nvPr>
            <p:ph type="title"/>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4400" kern="100" dirty="0">
                <a:effectLst/>
                <a:latin typeface="Calibri" panose="020F0502020204030204" pitchFamily="34" charset="0"/>
                <a:ea typeface="Calibri" panose="020F0502020204030204" pitchFamily="34" charset="0"/>
                <a:cs typeface="Times New Roman" panose="02020603050405020304" pitchFamily="18" charset="0"/>
              </a:rPr>
              <a:t>Recommendations</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51748BA-6881-4E9B-A598-31E5341F5E48}"/>
              </a:ext>
            </a:extLst>
          </p:cNvPr>
          <p:cNvSpPr>
            <a:spLocks noGrp="1"/>
          </p:cNvSpPr>
          <p:nvPr>
            <p:ph idx="1"/>
          </p:nvPr>
        </p:nvSpPr>
        <p:spPr/>
        <p:txBody>
          <a:bodyPr/>
          <a:lstStyle/>
          <a:p>
            <a:pPr marL="342900" marR="0" lvl="0" indent="-342900">
              <a:lnSpc>
                <a:spcPct val="115000"/>
              </a:lnSpc>
              <a:spcBef>
                <a:spcPts val="0"/>
              </a:spcBef>
              <a:spcAft>
                <a:spcPts val="0"/>
              </a:spcAft>
              <a:buFont typeface="Wingdings" panose="05000000000000000000" pitchFamily="2" charset="2"/>
              <a:buChar char=""/>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Use DP over recursion for problems with overlapping subproblems.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Wingdings" panose="05000000000000000000" pitchFamily="2" charset="2"/>
              <a:buChar char=""/>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Apply memorization to recursive functions as a simple performance fix.</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Wingdings" panose="05000000000000000000" pitchFamily="2" charset="2"/>
              <a:buChar char=""/>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Explore other DP problems like Longest Common Subsequence or Coin Change.</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800"/>
              </a:spcAft>
              <a:buFont typeface="Wingdings" panose="05000000000000000000" pitchFamily="2" charset="2"/>
              <a:buChar char=""/>
            </a:pPr>
            <a:r>
              <a:rPr lang="en-US" sz="2800" kern="100" dirty="0">
                <a:effectLst/>
                <a:latin typeface="Times New Roman" panose="02020603050405020304" pitchFamily="18" charset="0"/>
                <a:ea typeface="Calibri" panose="020F0502020204030204" pitchFamily="34" charset="0"/>
                <a:cs typeface="Times New Roman" panose="02020603050405020304" pitchFamily="18" charset="0"/>
              </a:rPr>
              <a:t>Compare top-down and bottom-up DP methods in future work.</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42506221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ustom 1">
      <a:dk1>
        <a:srgbClr val="242852"/>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290</TotalTime>
  <Words>456</Words>
  <Application>Microsoft Office PowerPoint</Application>
  <PresentationFormat>Widescreen</PresentationFormat>
  <Paragraphs>65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Celestial</vt:lpstr>
      <vt:lpstr>Numerical methods &amp; algorithm optimization: Recursive vs dynamic  programming</vt:lpstr>
      <vt:lpstr>Presentation road map</vt:lpstr>
      <vt:lpstr>introduction</vt:lpstr>
      <vt:lpstr>Question 1 – recursive numerical methods  </vt:lpstr>
      <vt:lpstr>Question 2-recursive vs dynamic programming.</vt:lpstr>
      <vt:lpstr>Fibonacci problem</vt:lpstr>
      <vt:lpstr>Knapsack problem    Recursive Version: we wrote codes basing on the above parameters compute the maximum value with capacity w, item weights wt, item values v, considering first n terms as follows        Dynamic Programming Version: for the above problem in dynamic programming, we wrote the code below to compute the maximum value for capacity. we used loops, if condition and return function to simulate the code as below      </vt:lpstr>
      <vt:lpstr>testing and timing setup </vt:lpstr>
      <vt:lpstr>loops that run test and records times  </vt:lpstr>
      <vt:lpstr>plotting both Knapsack and Fibonacci results </vt:lpstr>
      <vt:lpstr>Comparison using graphs</vt:lpstr>
      <vt:lpstr>conclusion</vt:lpstr>
      <vt:lpstr> Recommendations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Personal</dc:creator>
  <cp:lastModifiedBy>Ukili</cp:lastModifiedBy>
  <cp:revision>15</cp:revision>
  <dcterms:created xsi:type="dcterms:W3CDTF">2025-10-21T15:20:33Z</dcterms:created>
  <dcterms:modified xsi:type="dcterms:W3CDTF">2025-10-21T20:11:29Z</dcterms:modified>
</cp:coreProperties>
</file>